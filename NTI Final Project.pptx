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4" r:id="rId18"/>
    <p:sldId id="273" r:id="rId19"/>
    <p:sldId id="277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ln w="38100" cap="flat">
              <a:solidFill>
                <a:srgbClr val="01A7C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1A7C2"/>
              </a:solidFill>
              <a:ln w="9525" cap="flat">
                <a:solidFill>
                  <a:srgbClr val="01A7C2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6951.04</c:v>
                </c:pt>
                <c:pt idx="1">
                  <c:v>5785.5</c:v>
                </c:pt>
                <c:pt idx="2">
                  <c:v>4926.79</c:v>
                </c:pt>
                <c:pt idx="3">
                  <c:v>4326.88</c:v>
                </c:pt>
                <c:pt idx="4">
                  <c:v>3859.24</c:v>
                </c:pt>
                <c:pt idx="5">
                  <c:v>3521.67</c:v>
                </c:pt>
                <c:pt idx="6">
                  <c:v>3253.87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547-1843-8A86-8A3B255224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79"/>
                    </a:solidFill>
                    <a:latin typeface="Arial"/>
                  </a:rPr>
                  <a:t>Number of Clusters (K)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ln w="38100" cap="flat">
              <a:solidFill>
                <a:srgbClr val="FF6B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0.25430000000000003</c:v>
                </c:pt>
                <c:pt idx="1">
                  <c:v>0.22489999999999999</c:v>
                </c:pt>
                <c:pt idx="2">
                  <c:v>0.2228</c:v>
                </c:pt>
                <c:pt idx="3">
                  <c:v>0.2208</c:v>
                </c:pt>
                <c:pt idx="4">
                  <c:v>0.222</c:v>
                </c:pt>
                <c:pt idx="5">
                  <c:v>0.22070000000000001</c:v>
                </c:pt>
                <c:pt idx="6">
                  <c:v>0.21609999999999999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E0-BD46-A43F-CB23E427A1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79"/>
                    </a:solidFill>
                    <a:latin typeface="Arial"/>
                  </a:rPr>
                  <a:t>Number of Clusters (K)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Davies-Bouldin</c:v>
                </c:pt>
              </c:strCache>
            </c:strRef>
          </c:tx>
          <c:spPr>
            <a:ln w="38100" cap="flat">
              <a:solidFill>
                <a:srgbClr val="0B4F6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4F6C"/>
              </a:solidFill>
              <a:ln w="9525" cap="flat">
                <a:solidFill>
                  <a:srgbClr val="0B4F6C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1.47</c:v>
                </c:pt>
                <c:pt idx="1">
                  <c:v>1.43</c:v>
                </c:pt>
                <c:pt idx="2">
                  <c:v>1.3069999999999999</c:v>
                </c:pt>
                <c:pt idx="3">
                  <c:v>1.278</c:v>
                </c:pt>
                <c:pt idx="4">
                  <c:v>1.2270000000000001</c:v>
                </c:pt>
                <c:pt idx="5">
                  <c:v>1.1719999999999999</c:v>
                </c:pt>
                <c:pt idx="6">
                  <c:v>1.163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7C-BD45-BB10-8159203FD4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79"/>
                    </a:solidFill>
                    <a:latin typeface="Arial"/>
                  </a:rPr>
                  <a:t>Number of Clusters (K)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Spending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High-Value
Adventure</c:v>
                </c:pt>
                <c:pt idx="1">
                  <c:v>Budget
Occasional</c:v>
                </c:pt>
                <c:pt idx="2">
                  <c:v>Satisfied
Leisure/Religious</c:v>
                </c:pt>
                <c:pt idx="3">
                  <c:v>Loyal
Mature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3619.73</c:v>
                </c:pt>
                <c:pt idx="1">
                  <c:v>1782.15</c:v>
                </c:pt>
                <c:pt idx="2">
                  <c:v>2312.88</c:v>
                </c:pt>
                <c:pt idx="3">
                  <c:v>2262.17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0A-1D40-A7FE-40604F0A63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%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High-Value
Adventure</c:v>
                </c:pt>
                <c:pt idx="1">
                  <c:v>Budget
Occasional</c:v>
                </c:pt>
                <c:pt idx="2">
                  <c:v>Satisfied
Leisure/Religious</c:v>
                </c:pt>
                <c:pt idx="3">
                  <c:v>Loyal
Mature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73.790000000000006</c:v>
                </c:pt>
                <c:pt idx="1">
                  <c:v>29.81</c:v>
                </c:pt>
                <c:pt idx="2">
                  <c:v>85.86</c:v>
                </c:pt>
                <c:pt idx="3">
                  <c:v>50.38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05-614B-9927-BCCBFEF3BF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R2</c:v>
                </c:pt>
              </c:strCache>
            </c:strRef>
          </c:tx>
          <c:spPr>
            <a:solidFill>
              <a:srgbClr val="01A7C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Linear
Regression</c:v>
                </c:pt>
                <c:pt idx="1">
                  <c:v>Ridge
Regression</c:v>
                </c:pt>
                <c:pt idx="2">
                  <c:v>Lasso
Regression</c:v>
                </c:pt>
                <c:pt idx="3">
                  <c:v>Gradient
Boosting</c:v>
                </c:pt>
                <c:pt idx="4">
                  <c:v>Random
Forest</c:v>
                </c:pt>
                <c:pt idx="5">
                  <c:v>SVR
(RBF)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0.90380000000000005</c:v>
                </c:pt>
                <c:pt idx="1">
                  <c:v>0.90369999999999995</c:v>
                </c:pt>
                <c:pt idx="2">
                  <c:v>0.90380000000000005</c:v>
                </c:pt>
                <c:pt idx="3">
                  <c:v>0.89559999999999995</c:v>
                </c:pt>
                <c:pt idx="4">
                  <c:v>0.87729999999999997</c:v>
                </c:pt>
                <c:pt idx="5">
                  <c:v>0.85160000000000002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78-AE4F-9127-DA48238839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8"/>
        </c:scaling>
        <c:delete val="0"/>
        <c:axPos val="l"/>
        <c:majorGridlines>
          <c:spPr>
            <a:ln w="12700" cap="flat">
              <a:solidFill>
                <a:srgbClr val="E1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3D7BA-AE6E-174B-B6C3-E3F61CEEC75C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3D1F8-72F6-4A40-85BF-C5015AA621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891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400" b="1" kern="0" spc="3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</a:t>
            </a:r>
            <a:r>
              <a:rPr lang="en-US" sz="1400" b="1" kern="0" spc="3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FINAL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Tourism Consumer </a:t>
            </a:r>
            <a:r>
              <a:rPr lang="en-GB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&amp; Spending Prediction from Tourism Consumer Behavior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2,456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5074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5074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035040" y="5623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Prediction R²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1709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 &amp; Dataset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07568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matters, and what data powers it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89320" y="1691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903720" y="17099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Exploration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03720" y="207568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checks and the patterns hiding in the numbers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463040" y="31272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49300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travelers with K-Means clustering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903720" y="31272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Prediction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349300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six regression models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26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463040" y="45445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9103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insights to Power BI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89320" y="4526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FEF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903720" y="45445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49103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findings into business action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 &amp;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drives tourism spending, group customers into meaningful segments, and predict how much a customer will spend — so marketing and pricing decisions can be targeted rather than guessed.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Questions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 behaviors correlate most with spending?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7274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natural customer segments in the data?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2943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spending be predicted from customer profile data?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63640" y="1691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21488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2,456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00800" y="28072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06840" y="214884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2402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144000" y="280720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tracked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0" y="40416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06840" y="33832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34747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44000" y="40416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4709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Features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50749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 •   Gender   •   Income Level   •   Preferred Travel Type   •   Avg Trip Duration   •   Spending Amount   •   Booking Channel   •   Repeat Visitor   •   Customer Review Score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Outlier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pic>
        <p:nvPicPr>
          <p:cNvPr id="5" name="Image 0" descr="/home/claude/deck/cell17_img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62179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6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52360" y="2148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and zero duplicate records across all 2,456 rows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52360" y="2990088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analysis shows virtually no outliers in Age or Trip Duration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52360" y="3831336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high-spending VIP customers exceed $5,130 in spend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52360" y="467258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customers left critically low review scores, below 1.8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52360" y="55138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reflect real extreme behavior, not data errors — dataset is stable and ready for analysis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Customers Distributed?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589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pic>
        <p:nvPicPr>
          <p:cNvPr id="5" name="Image 0" descr="/home/claude/deck/cell21_img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722376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691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Distributions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66760" y="22860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spread evenly from 18 to 69 — no single generation dominates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66760" y="32918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follows a near-normal curve centered around $2,500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66760" y="4297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average about 11 days, clustering between 9–13 days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53035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scores concentrate between 3.5 and 4.5 — customers are broadly satisfied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Customers?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589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pic>
        <p:nvPicPr>
          <p:cNvPr id="5" name="Image 0" descr="/home/claude/deck/categoric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713232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66760" y="1691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Highlights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6676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income travelers are the largest group, ahead of Low and High income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66760" y="3200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spreads across Cultural, Leisure, Adventure and Religious trips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66760" y="42062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fairly balanced across Website, Agent and App channels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366760" y="52120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visitors make up a meaningful share of the customer base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Spending?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955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pic>
        <p:nvPicPr>
          <p:cNvPr id="5" name="Image 0" descr="/home/claude/deck/income_travel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9738360" cy="2377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10195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4754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Level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50749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travelers spend ~$3,860 on average vs. ~$1,650 for low-income — a clear, strong relationship.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0" y="4754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Type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43600" y="507492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trips generate the highest average spend (~$3,100); religious trips are the shortest and least expensive.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pic>
        <p:nvPicPr>
          <p:cNvPr id="5" name="Image 0" descr="/home/claude/deck/cell34_img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50292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629400" y="21488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CFEFF5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2331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0.67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03720" y="28346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Duration ↔ Spending Amount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03720" y="31272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positive correlation: longer trips reliably mean higher spending.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29400" y="406908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4251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≈ 0.09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903720" y="4754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Spending Amount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903720" y="50474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no relationship — purchasing power is evenly spread across age groups.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Business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9556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pic>
        <p:nvPicPr>
          <p:cNvPr id="5" name="Image 0" descr="/home/claude/deck/scatter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9646920" cy="2423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6344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CFEF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800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Stay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51206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trip duration drives spending, promote offers like “book 7 days, get the 8th at 50% off” rather than upselling pricier day packages.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760720" y="466344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FE3DE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4800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Age-Target Premium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35040" y="512064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25-year-old is statistically as likely to buy a $5,000 package as a 60-year-old — target by behavior, not age.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Number of Segments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(Age, Trip Duration, Spending, Review Score) were scaled and clustered with K-Means, testing K = 2 through 8.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364992" cy="40233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945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— Inertia by K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560320"/>
          <a:ext cx="3090672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078224" y="2057400"/>
            <a:ext cx="3364992" cy="40233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306824" y="21945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by K</a:t>
            </a:r>
            <a:endParaRPr lang="en-US" sz="12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215384" y="2560320"/>
          <a:ext cx="3090672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7607808" y="2057400"/>
            <a:ext cx="3364992" cy="40233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836408" y="21945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 by K</a:t>
            </a:r>
            <a:endParaRPr lang="en-US" sz="1200" dirty="0"/>
          </a:p>
        </p:txBody>
      </p:sp>
      <p:graphicFrame>
        <p:nvGraphicFramePr>
          <p:cNvPr id="13" name="Chart 2"/>
          <p:cNvGraphicFramePr/>
          <p:nvPr/>
        </p:nvGraphicFramePr>
        <p:xfrm>
          <a:off x="7744968" y="2560320"/>
          <a:ext cx="3090672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Distinct Customer Segments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selected — the clearest, most actionable balance of cohesion and business interpretability.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87168" cy="4434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221992"/>
            <a:ext cx="201168" cy="20116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6712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Adventure Travelers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9808" y="36576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702 customers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11480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4334256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$3,620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6817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490118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 yrs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524865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546811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18688" y="1965960"/>
            <a:ext cx="2487168" cy="4434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19856" y="2221992"/>
            <a:ext cx="201168" cy="201168"/>
          </a:xfrm>
          <a:prstGeom prst="ellipse">
            <a:avLst/>
          </a:prstGeom>
          <a:solidFill>
            <a:srgbClr val="01A7C2"/>
          </a:solidFill>
          <a:ln/>
        </p:spPr>
      </p:sp>
      <p:sp>
        <p:nvSpPr>
          <p:cNvPr id="18" name="Text 16"/>
          <p:cNvSpPr/>
          <p:nvPr/>
        </p:nvSpPr>
        <p:spPr>
          <a:xfrm>
            <a:off x="3721608" y="216712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Occasional Travelers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19856" y="32004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A7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21.6%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419856" y="36576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 customers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19856" y="411480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9856" y="4334256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$1,782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19856" y="46817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9856" y="490118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 yrs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19856" y="524865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19856" y="546811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88736" y="1965960"/>
            <a:ext cx="2487168" cy="4434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2221992"/>
            <a:ext cx="201168" cy="201168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9" name="Text 27"/>
          <p:cNvSpPr/>
          <p:nvPr/>
        </p:nvSpPr>
        <p:spPr>
          <a:xfrm>
            <a:off x="6391656" y="216712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Leisure &amp; Religious Travelers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89904" y="32004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089904" y="36576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 customers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89904" y="411480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9904" y="4334256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$2,313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89904" y="46817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9904" y="490118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 yrs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89904" y="524865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9904" y="546811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558784" y="1965960"/>
            <a:ext cx="2487168" cy="4434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759952" y="2221992"/>
            <a:ext cx="201168" cy="20116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0" name="Text 38"/>
          <p:cNvSpPr/>
          <p:nvPr/>
        </p:nvSpPr>
        <p:spPr>
          <a:xfrm>
            <a:off x="9061704" y="216712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Mature Travelers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59952" y="32004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8759952" y="365760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651 customers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759952" y="411480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Spending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59952" y="4334256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$2,262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759952" y="4681728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759952" y="4901184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 yrs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759952" y="5248656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759952" y="5468112"/>
            <a:ext cx="2084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Each Segment Apart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Spending by Segment ($)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2240280"/>
          <a:ext cx="46634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06440" y="1783080"/>
            <a:ext cx="5852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Visitor Rate by Segment (%)</a:t>
            </a:r>
            <a:endParaRPr lang="en-US" sz="12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5989320" y="2240280"/>
          <a:ext cx="54864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PREDICTION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Spending: Model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regression models were trained to predict Spending Amount from customer profile features, evaluated on held-out test data and 5-fold cross-validation.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by Model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31520" y="2560320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0" y="2468880"/>
            <a:ext cx="3886200" cy="18288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2633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01000" y="30632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00100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35440" y="30632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$233.9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23544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469880" y="30632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$296.2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469880" y="35661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0" y="4434840"/>
            <a:ext cx="3886200" cy="1691640"/>
          </a:xfrm>
          <a:prstGeom prst="roundRect">
            <a:avLst>
              <a:gd name="adj" fmla="val 4324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01000" y="4590288"/>
            <a:ext cx="3429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models match or beat complex ones (Random Forest, Gradient Boosting, SVR) — spending is driven by additive, largely linear effects, not hidden non-linear interactions.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PREDICTION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Predicts Customer Spending?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Level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tiers show substantially higher average spending — the single strongest driver.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011680"/>
            <a:ext cx="594360" cy="594360"/>
          </a:xfrm>
          <a:prstGeom prst="ellipse">
            <a:avLst/>
          </a:prstGeom>
          <a:solidFill>
            <a:srgbClr val="01A7C2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43400" y="27432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Trip Duration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32461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trips are consistently associated with higher total spending.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178308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0" y="2011680"/>
            <a:ext cx="594360" cy="59436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63840" y="274320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Channel &amp; Repeat Visitor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63840" y="324612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Secondary, smaller positive effects on spending patterns.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287000" cy="1783080"/>
          </a:xfrm>
          <a:prstGeom prst="roundRect">
            <a:avLst>
              <a:gd name="adj" fmla="val 4103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Summary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0.904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68680" y="53035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explains ~90% of the variance in customer spending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≈ $234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297680" y="53035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 is small relative to the ~$100–$6,000 spending range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266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Std ≈ 0.002–0.004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726680" y="53035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cross-validation variance — a robust, generalizable model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Bringing It Together in Power BI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four-page interactive dashboard lets stakeholders explore segments, spending and model results without touching code.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87168" cy="4160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13432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352044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Distribution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142232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Segment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476402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Preference by Segment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49808" y="5385816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Visitors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2057400"/>
            <a:ext cx="2487168" cy="4160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47288" y="2313432"/>
            <a:ext cx="457200" cy="457200"/>
          </a:xfrm>
          <a:prstGeom prst="ellipse">
            <a:avLst/>
          </a:prstGeom>
          <a:solidFill>
            <a:srgbClr val="01A7C2"/>
          </a:solidFill>
          <a:ln/>
        </p:spPr>
      </p:sp>
      <p:sp>
        <p:nvSpPr>
          <p:cNvPr id="15" name="Text 13"/>
          <p:cNvSpPr/>
          <p:nvPr/>
        </p:nvSpPr>
        <p:spPr>
          <a:xfrm>
            <a:off x="3447288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19856" y="29260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&amp; ML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19856" y="352044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Spending by Income Level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19856" y="4142232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Spending by Booking Channel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19856" y="476402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88736" y="2057400"/>
            <a:ext cx="2487168" cy="4160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2313432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117336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89904" y="29260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9904" y="352044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KPIs &amp; filters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89904" y="4142232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and travel-preference visuals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89904" y="476402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by segment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58784" y="2057400"/>
            <a:ext cx="2487168" cy="41605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787384" y="2313432"/>
            <a:ext cx="457200" cy="457200"/>
          </a:xfrm>
          <a:prstGeom prst="ellipse">
            <a:avLst/>
          </a:prstGeom>
          <a:solidFill>
            <a:srgbClr val="01A7C2"/>
          </a:solidFill>
          <a:ln/>
        </p:spPr>
      </p:sp>
      <p:sp>
        <p:nvSpPr>
          <p:cNvPr id="29" name="Text 27"/>
          <p:cNvSpPr/>
          <p:nvPr/>
        </p:nvSpPr>
        <p:spPr>
          <a:xfrm>
            <a:off x="8787384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59952" y="292608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59952" y="352044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by booking channel &amp; income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59952" y="4142232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59952" y="476402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KPI cards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115488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374648"/>
                </a:solidFill>
                <a:latin typeface="Aptos"/>
              </a:rPr>
              <a:t>Dashboard — Customer Overview &amp; Segmentation</a:t>
            </a:r>
          </a:p>
        </p:txBody>
      </p:sp>
      <p:pic>
        <p:nvPicPr>
          <p:cNvPr id="3" name="Picture 2" descr="D37B9FF6-A455-4BB6-8F26-B4D2CB2C5F9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03504"/>
            <a:ext cx="11859768" cy="62544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73152"/>
            <a:ext cx="1154887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374648"/>
                </a:solidFill>
                <a:latin typeface="Aptos"/>
              </a:rPr>
              <a:t>Dashboard — Spending Analysis &amp; ML Insights</a:t>
            </a:r>
          </a:p>
        </p:txBody>
      </p:sp>
      <p:pic>
        <p:nvPicPr>
          <p:cNvPr id="3" name="Picture 2" descr="F3C28660-73F7-4B10-A9C5-C4543F55F00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03504"/>
            <a:ext cx="11859768" cy="62544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629" y="101697"/>
            <a:ext cx="595169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374648"/>
                </a:solidFill>
                <a:latin typeface="Aptos"/>
              </a:rPr>
              <a:t>Customer Insights &amp; Business Recommendations</a:t>
            </a:r>
          </a:p>
        </p:txBody>
      </p:sp>
      <p:pic>
        <p:nvPicPr>
          <p:cNvPr id="3" name="Picture 2" descr="797BD9C3-EBB4-42C3-BF85-F232478847F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03504"/>
            <a:ext cx="11859768" cy="62544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8629" y="101697"/>
            <a:ext cx="595169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374648"/>
                </a:solidFill>
                <a:latin typeface="Aptos"/>
              </a:rPr>
              <a:t>Customer Insights &amp; Business 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8129F-EF98-1F94-F1CD-6EE07FA2C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352"/>
            <a:ext cx="12192000" cy="632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7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011680"/>
            <a:ext cx="5029200" cy="5029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4206240" cy="420624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06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01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Consumer Behavior Analytics — Customer Segmentation &amp; Spending Prediction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Shada Saeed</cp:lastModifiedBy>
  <cp:revision>2</cp:revision>
  <dcterms:created xsi:type="dcterms:W3CDTF">2026-08-21T22:08:29Z</dcterms:created>
  <dcterms:modified xsi:type="dcterms:W3CDTF">2026-08-23T18:37:06Z</dcterms:modified>
</cp:coreProperties>
</file>